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3040" r:id="rId3"/>
    <p:sldId id="3105" r:id="rId4"/>
    <p:sldId id="3113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36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4D081F-ACE5-40DC-8B4B-44F645958896}" type="datetimeFigureOut">
              <a:rPr lang="zh-CN" altLang="en-US" smtClean="0"/>
              <a:t>2025-11-21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5BE500-FE78-4DB1-9FB7-F82969A544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8944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B07683-82F1-4BAB-B053-B3E0D5AD1288}" type="slidenum">
              <a:rPr lang="ko-KR" altLang="en-US" smtClean="0"/>
              <a:t>2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79EFF9-D8E5-46C3-B237-0A1D3FE036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F9C1B2A-6A08-44AF-B8CB-CFF510E2EE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78B743-74F9-466E-BFC5-45CE685E3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CBDC3-65CA-4E37-86FF-9F0818E3725A}" type="datetimeFigureOut">
              <a:rPr lang="zh-CN" altLang="en-US" smtClean="0"/>
              <a:t>2025-11-21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45B510-6E56-404A-8011-C99088E88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99DB0B-2EB3-4FA4-8EFC-B2F935252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E078C-2847-49B3-A03E-5287D37AA3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241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2EB403-B6E0-42FD-835B-6779CA773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F11D79-4E5C-441C-99D5-4EE0CC143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F19CB4-F68F-4F04-8DD7-B2FB4A3F2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CBDC3-65CA-4E37-86FF-9F0818E3725A}" type="datetimeFigureOut">
              <a:rPr lang="zh-CN" altLang="en-US" smtClean="0"/>
              <a:t>2025-11-21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D043C8-8A41-4426-A841-BCC88A331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12835F-4067-4416-9C25-C7E5AEE29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E078C-2847-49B3-A03E-5287D37AA3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800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6C51A7-E830-4117-B27C-735DDD8C6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3D302C-F9C9-4135-9732-2D587845E0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2C46D5-83C1-457B-B8D7-BDE59A66A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CBDC3-65CA-4E37-86FF-9F0818E3725A}" type="datetimeFigureOut">
              <a:rPr lang="zh-CN" altLang="en-US" smtClean="0"/>
              <a:t>2025-11-21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F93A61-6C6E-480E-A136-753786537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E2D3F2-BE42-4E45-BA59-4DF859347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E078C-2847-49B3-A03E-5287D37AA3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235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227C3B-DDC4-44BD-BC01-A1D207DAA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44C57F-FFF0-4F07-A91B-CBDE0B07F3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EC5870F-6329-49BB-984E-1955E90116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49113A-537D-4848-9F8F-B3EEAC5A5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CBDC3-65CA-4E37-86FF-9F0818E3725A}" type="datetimeFigureOut">
              <a:rPr lang="zh-CN" altLang="en-US" smtClean="0"/>
              <a:t>2025-11-21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1E4E49-A859-4388-A00C-9E1F66AB4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C3345D-BB74-4791-8D90-277411B62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E078C-2847-49B3-A03E-5287D37AA3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99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8952E3-D533-464E-ADB7-67223D9BE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F3FDF1-0E43-47BC-BADD-62F7C651E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8A89BE1-0181-44D1-B421-D032ACE701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01AB201-C46E-4C31-BEB3-46A9886DA4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DF36620-7DD8-4C7B-91EC-E77FBAD007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E72DEBE-5F9B-414B-868A-A998D69B2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CBDC3-65CA-4E37-86FF-9F0818E3725A}" type="datetimeFigureOut">
              <a:rPr lang="zh-CN" altLang="en-US" smtClean="0"/>
              <a:t>2025-11-21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C45446F-1105-4767-AA29-BE6D650D0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FB740DC-9BD2-43FA-AFA7-AC8236CE8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E078C-2847-49B3-A03E-5287D37AA3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7882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8A4739-176B-44DB-A6C4-3CFD55616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FDEDAAE-3976-4F49-9F1C-9265C3955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CBDC3-65CA-4E37-86FF-9F0818E3725A}" type="datetimeFigureOut">
              <a:rPr lang="zh-CN" altLang="en-US" smtClean="0"/>
              <a:t>2025-11-21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351FB2F-C697-472A-9083-6AEC1F519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46C1FCF-4E2F-4F98-AA0E-44708A2AE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E078C-2847-49B3-A03E-5287D37AA3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073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B8DBEF8-8660-4144-B5A3-A3C784CF3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CBDC3-65CA-4E37-86FF-9F0818E3725A}" type="datetimeFigureOut">
              <a:rPr lang="zh-CN" altLang="en-US" smtClean="0"/>
              <a:t>2025-11-21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EB274A5-8962-45A0-A096-156C08D98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866163-E669-479F-8AC2-4D496086E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E078C-2847-49B3-A03E-5287D37AA3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6768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B00F01-C675-4878-83D8-D1F981CB3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443B7A-5897-4193-AA4C-7239E960A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A2808F0-BE80-4E0D-A60A-40668BD01E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CFF961-D980-42F0-859E-68C1BF079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CBDC3-65CA-4E37-86FF-9F0818E3725A}" type="datetimeFigureOut">
              <a:rPr lang="zh-CN" altLang="en-US" smtClean="0"/>
              <a:t>2025-11-21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F95DF8F-85B4-4D4F-8AEE-BBFF6E0E5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E36C5B-0428-404C-8B92-FE6F1308D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E078C-2847-49B3-A03E-5287D37AA3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0645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55A17F-A1C7-41C4-B95B-C65D6224F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BA95C6C-03E8-44FD-8499-78603CA24F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6DB2039-0056-4471-A734-2785B2E65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91F84A-4C1E-4C18-933C-1527FD662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CBDC3-65CA-4E37-86FF-9F0818E3725A}" type="datetimeFigureOut">
              <a:rPr lang="zh-CN" altLang="en-US" smtClean="0"/>
              <a:t>2025-11-21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1CD2AF6-F80F-470D-8A9B-9DC32AD19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8C609EE-C190-4DD0-8736-E0F915CA8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E078C-2847-49B3-A03E-5287D37AA3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628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7FCCEB-0BE1-48B8-AE5E-5E2D1357F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93D06AD-2F54-4A9D-94E0-E677521511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43CF13-6E3D-4F77-A31A-905CD5404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CBDC3-65CA-4E37-86FF-9F0818E3725A}" type="datetimeFigureOut">
              <a:rPr lang="zh-CN" altLang="en-US" smtClean="0"/>
              <a:t>2025-11-21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FDF48A-AB4A-43E5-8845-E5A628AB9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111458-7230-47AE-BFC4-52A5029F9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E078C-2847-49B3-A03E-5287D37AA3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1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3247EB9-B797-4208-9DBF-D173938473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941A190-E389-49D2-840F-B1743F588A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78A95F-C7AE-4000-9075-218651671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CBDC3-65CA-4E37-86FF-9F0818E3725A}" type="datetimeFigureOut">
              <a:rPr lang="zh-CN" altLang="en-US" smtClean="0"/>
              <a:t>2025-11-21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9E04D2-A4E9-4740-A4D0-37418C2CD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00AB9D-94DF-47BE-A398-90B6A3FDA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E078C-2847-49B3-A03E-5287D37AA3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1644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4"/>
          <p:cNvSpPr>
            <a:spLocks noChangeShapeType="1"/>
          </p:cNvSpPr>
          <p:nvPr userDrawn="1"/>
        </p:nvSpPr>
        <p:spPr bwMode="auto">
          <a:xfrm flipV="1">
            <a:off x="2" y="614516"/>
            <a:ext cx="12191999" cy="0"/>
          </a:xfrm>
          <a:prstGeom prst="line">
            <a:avLst/>
          </a:prstGeom>
          <a:noFill/>
          <a:ln w="12700" cmpd="sng">
            <a:solidFill>
              <a:schemeClr val="accent1"/>
            </a:solidFill>
            <a:round/>
          </a:ln>
        </p:spPr>
        <p:txBody>
          <a:bodyPr/>
          <a:lstStyle/>
          <a:p>
            <a:endParaRPr lang="zh-CN" altLang="en-US" sz="900">
              <a:latin typeface="华文细黑" panose="02010600040101010101" pitchFamily="2" charset="-122"/>
            </a:endParaRPr>
          </a:p>
        </p:txBody>
      </p:sp>
      <p:pic>
        <p:nvPicPr>
          <p:cNvPr id="2" name="图片 1" descr="로고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6700" y="72023"/>
            <a:ext cx="976774" cy="49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203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EEC70A-F902-4C0D-A2F0-F93C05350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0AF73A-1255-4520-9639-27FD8F5CD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4A082F-2CAA-415F-B16D-6A4DB38F90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CBDC3-65CA-4E37-86FF-9F0818E3725A}" type="datetimeFigureOut">
              <a:rPr lang="zh-CN" altLang="en-US" smtClean="0"/>
              <a:t>2025-11-21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A8B87A-332F-4B19-9667-337AA3B185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EB1D10-98A0-42F9-BA3D-181DFFEF5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E078C-2847-49B3-A03E-5287D37AA3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069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38BB7B-64E1-4310-AE92-25B9BD2552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F3ED24-F267-4AFF-A8EB-650F518F47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8221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45745" y="168910"/>
            <a:ext cx="1096391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问题描述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DA15B88-C0EC-4220-B9DD-4DDE222B04EB}"/>
                  </a:ext>
                </a:extLst>
              </p:cNvPr>
              <p:cNvSpPr txBox="1"/>
              <p:nvPr/>
            </p:nvSpPr>
            <p:spPr>
              <a:xfrm>
                <a:off x="2917704" y="715774"/>
                <a:ext cx="58563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={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𝑞𝑡𝑖𝑚𝑒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,…}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DA15B88-C0EC-4220-B9DD-4DDE222B04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704" y="715774"/>
                <a:ext cx="5856348" cy="369332"/>
              </a:xfrm>
              <a:prstGeom prst="rect">
                <a:avLst/>
              </a:prstGeom>
              <a:blipFill>
                <a:blip r:embed="rId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283CC25C-3A50-471E-B459-A8187E2A7C01}"/>
                  </a:ext>
                </a:extLst>
              </p:cNvPr>
              <p:cNvSpPr txBox="1"/>
              <p:nvPr/>
            </p:nvSpPr>
            <p:spPr>
              <a:xfrm>
                <a:off x="245745" y="1353415"/>
                <a:ext cx="37192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dirty="0"/>
                  <a:t>: </a:t>
                </a:r>
                <a:r>
                  <a:rPr lang="zh-CN" altLang="en-US" dirty="0"/>
                  <a:t>待排产</a:t>
                </a:r>
                <a:r>
                  <a:rPr lang="en-US" altLang="zh-CN" dirty="0"/>
                  <a:t>Lot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283CC25C-3A50-471E-B459-A8187E2A7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745" y="1353415"/>
                <a:ext cx="3719222" cy="369332"/>
              </a:xfrm>
              <a:prstGeom prst="rect">
                <a:avLst/>
              </a:prstGeom>
              <a:blipFill>
                <a:blip r:embed="rId4"/>
                <a:stretch>
                  <a:fillRect l="-492" t="-8197" b="-26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4" name="连接符: 肘形 123">
            <a:extLst>
              <a:ext uri="{FF2B5EF4-FFF2-40B4-BE49-F238E27FC236}">
                <a16:creationId xmlns:a16="http://schemas.microsoft.com/office/drawing/2014/main" id="{1DA71CDA-AF66-40B3-9AE2-CA01A0ABC2BE}"/>
              </a:ext>
            </a:extLst>
          </p:cNvPr>
          <p:cNvCxnSpPr>
            <a:cxnSpLocks/>
            <a:endCxn id="142" idx="1"/>
          </p:cNvCxnSpPr>
          <p:nvPr/>
        </p:nvCxnSpPr>
        <p:spPr>
          <a:xfrm>
            <a:off x="1566561" y="1716644"/>
            <a:ext cx="1222210" cy="235099"/>
          </a:xfrm>
          <a:prstGeom prst="bentConnector3">
            <a:avLst>
              <a:gd name="adj1" fmla="val -829"/>
            </a:avLst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文本框 141">
            <a:extLst>
              <a:ext uri="{FF2B5EF4-FFF2-40B4-BE49-F238E27FC236}">
                <a16:creationId xmlns:a16="http://schemas.microsoft.com/office/drawing/2014/main" id="{1BE92B7C-38B7-4F55-AF3F-9DF328091696}"/>
              </a:ext>
            </a:extLst>
          </p:cNvPr>
          <p:cNvSpPr txBox="1"/>
          <p:nvPr/>
        </p:nvSpPr>
        <p:spPr>
          <a:xfrm>
            <a:off x="2788771" y="1767077"/>
            <a:ext cx="880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Step 1</a:t>
            </a:r>
            <a:endParaRPr lang="zh-CN" altLang="en-US" dirty="0"/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A5825DA5-2BA2-426C-BCF4-FB60A683D8B3}"/>
              </a:ext>
            </a:extLst>
          </p:cNvPr>
          <p:cNvSpPr txBox="1"/>
          <p:nvPr/>
        </p:nvSpPr>
        <p:spPr>
          <a:xfrm>
            <a:off x="3833851" y="1767076"/>
            <a:ext cx="880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Step k</a:t>
            </a:r>
            <a:endParaRPr lang="zh-CN" altLang="en-US" dirty="0"/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A4EB63B4-9E76-463C-A51E-92619C4702AA}"/>
              </a:ext>
            </a:extLst>
          </p:cNvPr>
          <p:cNvSpPr txBox="1"/>
          <p:nvPr/>
        </p:nvSpPr>
        <p:spPr>
          <a:xfrm>
            <a:off x="4878931" y="1767076"/>
            <a:ext cx="880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Step N</a:t>
            </a:r>
            <a:endParaRPr lang="zh-CN" altLang="en-US" dirty="0"/>
          </a:p>
        </p:txBody>
      </p: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8606514B-322E-47B0-871E-E3FE4907076C}"/>
              </a:ext>
            </a:extLst>
          </p:cNvPr>
          <p:cNvCxnSpPr>
            <a:stCxn id="142" idx="3"/>
            <a:endCxn id="143" idx="1"/>
          </p:cNvCxnSpPr>
          <p:nvPr/>
        </p:nvCxnSpPr>
        <p:spPr>
          <a:xfrm flipV="1">
            <a:off x="3669273" y="1951742"/>
            <a:ext cx="164578" cy="1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16A9F094-B1DF-4C87-BA7E-13F59FFD0A1D}"/>
              </a:ext>
            </a:extLst>
          </p:cNvPr>
          <p:cNvCxnSpPr>
            <a:cxnSpLocks/>
            <a:stCxn id="143" idx="3"/>
            <a:endCxn id="144" idx="1"/>
          </p:cNvCxnSpPr>
          <p:nvPr/>
        </p:nvCxnSpPr>
        <p:spPr>
          <a:xfrm>
            <a:off x="4714353" y="1951742"/>
            <a:ext cx="164578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F210522C-8899-4DD6-AA01-76AB326C35DE}"/>
                  </a:ext>
                </a:extLst>
              </p:cNvPr>
              <p:cNvSpPr txBox="1"/>
              <p:nvPr/>
            </p:nvSpPr>
            <p:spPr>
              <a:xfrm>
                <a:off x="2639938" y="2136408"/>
                <a:ext cx="88050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F210522C-8899-4DD6-AA01-76AB326C3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938" y="2136408"/>
                <a:ext cx="88050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DA3A9170-37BE-4A20-8A81-7054941AB0F9}"/>
                  </a:ext>
                </a:extLst>
              </p:cNvPr>
              <p:cNvSpPr txBox="1"/>
              <p:nvPr/>
            </p:nvSpPr>
            <p:spPr>
              <a:xfrm>
                <a:off x="3818106" y="2136409"/>
                <a:ext cx="88050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DA3A9170-37BE-4A20-8A81-7054941AB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8106" y="2136409"/>
                <a:ext cx="88050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4DC696E3-67E5-45FC-B31D-0A7FD35CA73C}"/>
                  </a:ext>
                </a:extLst>
              </p:cNvPr>
              <p:cNvSpPr txBox="1"/>
              <p:nvPr/>
            </p:nvSpPr>
            <p:spPr>
              <a:xfrm>
                <a:off x="4907510" y="2136409"/>
                <a:ext cx="88050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4DC696E3-67E5-45FC-B31D-0A7FD35CA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7510" y="2136409"/>
                <a:ext cx="88050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箭头: 右 19">
            <a:extLst>
              <a:ext uri="{FF2B5EF4-FFF2-40B4-BE49-F238E27FC236}">
                <a16:creationId xmlns:a16="http://schemas.microsoft.com/office/drawing/2014/main" id="{D52C70C6-1ABF-4795-AA7A-98404CE8D7DC}"/>
              </a:ext>
            </a:extLst>
          </p:cNvPr>
          <p:cNvSpPr/>
          <p:nvPr/>
        </p:nvSpPr>
        <p:spPr>
          <a:xfrm>
            <a:off x="5762698" y="2178222"/>
            <a:ext cx="666604" cy="285704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zh-CN" altLang="en-US" sz="800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8FC3342B-3FF4-43FA-8C37-CFAC52C51406}"/>
                  </a:ext>
                </a:extLst>
              </p:cNvPr>
              <p:cNvSpPr txBox="1"/>
              <p:nvPr/>
            </p:nvSpPr>
            <p:spPr>
              <a:xfrm>
                <a:off x="6429302" y="2100234"/>
                <a:ext cx="59694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</m:d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8FC3342B-3FF4-43FA-8C37-CFAC52C51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02" y="2100234"/>
                <a:ext cx="59694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CC75B68E-C66C-42DA-B9FD-9B54E2B12B3F}"/>
                  </a:ext>
                </a:extLst>
              </p:cNvPr>
              <p:cNvSpPr txBox="1"/>
              <p:nvPr/>
            </p:nvSpPr>
            <p:spPr>
              <a:xfrm>
                <a:off x="62822" y="3608123"/>
                <a:ext cx="76777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r>
                  <a:rPr lang="en-US" altLang="zh-CN" dirty="0"/>
                  <a:t>: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CC75B68E-C66C-42DA-B9FD-9B54E2B12B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22" y="3608123"/>
                <a:ext cx="767779" cy="369332"/>
              </a:xfrm>
              <a:prstGeom prst="rect">
                <a:avLst/>
              </a:prstGeom>
              <a:blipFill>
                <a:blip r:embed="rId9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6" name="连接符: 肘形 165">
            <a:extLst>
              <a:ext uri="{FF2B5EF4-FFF2-40B4-BE49-F238E27FC236}">
                <a16:creationId xmlns:a16="http://schemas.microsoft.com/office/drawing/2014/main" id="{EB626678-7C67-444D-ADDC-06292B3D3CFD}"/>
              </a:ext>
            </a:extLst>
          </p:cNvPr>
          <p:cNvCxnSpPr>
            <a:cxnSpLocks/>
            <a:stCxn id="164" idx="2"/>
            <a:endCxn id="167" idx="1"/>
          </p:cNvCxnSpPr>
          <p:nvPr/>
        </p:nvCxnSpPr>
        <p:spPr>
          <a:xfrm rot="16200000" flipH="1">
            <a:off x="6934368" y="2262974"/>
            <a:ext cx="220840" cy="634024"/>
          </a:xfrm>
          <a:prstGeom prst="bentConnector2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文本框 166">
            <a:extLst>
              <a:ext uri="{FF2B5EF4-FFF2-40B4-BE49-F238E27FC236}">
                <a16:creationId xmlns:a16="http://schemas.microsoft.com/office/drawing/2014/main" id="{5CD435CC-AD4E-4369-BB74-941024404CFD}"/>
              </a:ext>
            </a:extLst>
          </p:cNvPr>
          <p:cNvSpPr txBox="1"/>
          <p:nvPr/>
        </p:nvSpPr>
        <p:spPr>
          <a:xfrm>
            <a:off x="7361800" y="2505740"/>
            <a:ext cx="910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Recipe </a:t>
            </a:r>
            <a:endParaRPr lang="zh-CN" altLang="en-US" dirty="0"/>
          </a:p>
        </p:txBody>
      </p:sp>
      <p:sp>
        <p:nvSpPr>
          <p:cNvPr id="168" name="文本框 167">
            <a:extLst>
              <a:ext uri="{FF2B5EF4-FFF2-40B4-BE49-F238E27FC236}">
                <a16:creationId xmlns:a16="http://schemas.microsoft.com/office/drawing/2014/main" id="{FFED31F1-AEDF-42CE-AC24-A6DF2880C8D7}"/>
              </a:ext>
            </a:extLst>
          </p:cNvPr>
          <p:cNvSpPr txBox="1"/>
          <p:nvPr/>
        </p:nvSpPr>
        <p:spPr>
          <a:xfrm>
            <a:off x="903944" y="4050635"/>
            <a:ext cx="1325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FAB Area </a:t>
            </a:r>
            <a:endParaRPr lang="zh-CN" altLang="en-US" dirty="0"/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8ED5AD80-2E6B-4C4E-9E52-3E72BD58D841}"/>
              </a:ext>
            </a:extLst>
          </p:cNvPr>
          <p:cNvSpPr txBox="1"/>
          <p:nvPr/>
        </p:nvSpPr>
        <p:spPr>
          <a:xfrm>
            <a:off x="1999323" y="4474497"/>
            <a:ext cx="1746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Machine Group</a:t>
            </a:r>
            <a:endParaRPr lang="zh-CN" altLang="en-US" dirty="0"/>
          </a:p>
        </p:txBody>
      </p:sp>
      <p:cxnSp>
        <p:nvCxnSpPr>
          <p:cNvPr id="170" name="连接符: 肘形 169">
            <a:extLst>
              <a:ext uri="{FF2B5EF4-FFF2-40B4-BE49-F238E27FC236}">
                <a16:creationId xmlns:a16="http://schemas.microsoft.com/office/drawing/2014/main" id="{718B5EC3-6547-43E3-9483-45DB6B75C723}"/>
              </a:ext>
            </a:extLst>
          </p:cNvPr>
          <p:cNvCxnSpPr>
            <a:cxnSpLocks/>
            <a:stCxn id="168" idx="2"/>
            <a:endCxn id="169" idx="1"/>
          </p:cNvCxnSpPr>
          <p:nvPr/>
        </p:nvCxnSpPr>
        <p:spPr>
          <a:xfrm rot="16200000" flipH="1">
            <a:off x="1663344" y="4323184"/>
            <a:ext cx="239196" cy="432762"/>
          </a:xfrm>
          <a:prstGeom prst="bentConnector2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文本框 170">
            <a:extLst>
              <a:ext uri="{FF2B5EF4-FFF2-40B4-BE49-F238E27FC236}">
                <a16:creationId xmlns:a16="http://schemas.microsoft.com/office/drawing/2014/main" id="{79089AB5-50D9-4C44-8285-6BB9E1F46EE6}"/>
              </a:ext>
            </a:extLst>
          </p:cNvPr>
          <p:cNvSpPr txBox="1"/>
          <p:nvPr/>
        </p:nvSpPr>
        <p:spPr>
          <a:xfrm>
            <a:off x="3108982" y="4843829"/>
            <a:ext cx="1117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Machine</a:t>
            </a:r>
            <a:endParaRPr lang="zh-CN" altLang="en-US" dirty="0"/>
          </a:p>
        </p:txBody>
      </p:sp>
      <p:cxnSp>
        <p:nvCxnSpPr>
          <p:cNvPr id="172" name="连接符: 肘形 171">
            <a:extLst>
              <a:ext uri="{FF2B5EF4-FFF2-40B4-BE49-F238E27FC236}">
                <a16:creationId xmlns:a16="http://schemas.microsoft.com/office/drawing/2014/main" id="{8AFDFF13-F028-4C4D-99DF-B6DB82B445B3}"/>
              </a:ext>
            </a:extLst>
          </p:cNvPr>
          <p:cNvCxnSpPr>
            <a:cxnSpLocks/>
            <a:stCxn id="169" idx="2"/>
            <a:endCxn id="171" idx="1"/>
          </p:cNvCxnSpPr>
          <p:nvPr/>
        </p:nvCxnSpPr>
        <p:spPr>
          <a:xfrm rot="16200000" flipH="1">
            <a:off x="2898429" y="4817942"/>
            <a:ext cx="184666" cy="236439"/>
          </a:xfrm>
          <a:prstGeom prst="bentConnector2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连接符: 肘形 172">
            <a:extLst>
              <a:ext uri="{FF2B5EF4-FFF2-40B4-BE49-F238E27FC236}">
                <a16:creationId xmlns:a16="http://schemas.microsoft.com/office/drawing/2014/main" id="{ECBBC114-7220-4348-BB24-DA790934F317}"/>
              </a:ext>
            </a:extLst>
          </p:cNvPr>
          <p:cNvCxnSpPr>
            <a:cxnSpLocks/>
            <a:stCxn id="171" idx="2"/>
            <a:endCxn id="174" idx="1"/>
          </p:cNvCxnSpPr>
          <p:nvPr/>
        </p:nvCxnSpPr>
        <p:spPr>
          <a:xfrm rot="16200000" flipH="1">
            <a:off x="3832652" y="5048248"/>
            <a:ext cx="184666" cy="514491"/>
          </a:xfrm>
          <a:prstGeom prst="bentConnector2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文本框 173">
            <a:extLst>
              <a:ext uri="{FF2B5EF4-FFF2-40B4-BE49-F238E27FC236}">
                <a16:creationId xmlns:a16="http://schemas.microsoft.com/office/drawing/2014/main" id="{63919387-69F4-4E0C-89E8-F149EABA9454}"/>
              </a:ext>
            </a:extLst>
          </p:cNvPr>
          <p:cNvSpPr txBox="1"/>
          <p:nvPr/>
        </p:nvSpPr>
        <p:spPr>
          <a:xfrm>
            <a:off x="4182231" y="5213161"/>
            <a:ext cx="1655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Chamber/Tank</a:t>
            </a:r>
            <a:endParaRPr lang="zh-CN" altLang="en-US" dirty="0"/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1A8EB22A-C17C-4758-BD76-428226877EB2}"/>
              </a:ext>
            </a:extLst>
          </p:cNvPr>
          <p:cNvSpPr txBox="1"/>
          <p:nvPr/>
        </p:nvSpPr>
        <p:spPr>
          <a:xfrm>
            <a:off x="5748243" y="5627317"/>
            <a:ext cx="910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Side</a:t>
            </a:r>
            <a:endParaRPr lang="zh-CN" altLang="en-US" dirty="0"/>
          </a:p>
        </p:txBody>
      </p:sp>
      <p:cxnSp>
        <p:nvCxnSpPr>
          <p:cNvPr id="176" name="连接符: 肘形 175">
            <a:extLst>
              <a:ext uri="{FF2B5EF4-FFF2-40B4-BE49-F238E27FC236}">
                <a16:creationId xmlns:a16="http://schemas.microsoft.com/office/drawing/2014/main" id="{28CCAD1E-7474-4DBA-841E-E215080BEC72}"/>
              </a:ext>
            </a:extLst>
          </p:cNvPr>
          <p:cNvCxnSpPr>
            <a:cxnSpLocks/>
            <a:stCxn id="174" idx="2"/>
            <a:endCxn id="175" idx="1"/>
          </p:cNvCxnSpPr>
          <p:nvPr/>
        </p:nvCxnSpPr>
        <p:spPr>
          <a:xfrm rot="16200000" flipH="1">
            <a:off x="5264407" y="5328147"/>
            <a:ext cx="229490" cy="738181"/>
          </a:xfrm>
          <a:prstGeom prst="bentConnector2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连接符: 肘形 179">
            <a:extLst>
              <a:ext uri="{FF2B5EF4-FFF2-40B4-BE49-F238E27FC236}">
                <a16:creationId xmlns:a16="http://schemas.microsoft.com/office/drawing/2014/main" id="{B8660AC8-DDC0-414E-AE22-BBAA12F6D92F}"/>
              </a:ext>
            </a:extLst>
          </p:cNvPr>
          <p:cNvCxnSpPr>
            <a:cxnSpLocks/>
            <a:stCxn id="171" idx="3"/>
          </p:cNvCxnSpPr>
          <p:nvPr/>
        </p:nvCxnSpPr>
        <p:spPr>
          <a:xfrm flipV="1">
            <a:off x="4226497" y="5028494"/>
            <a:ext cx="3067763" cy="1"/>
          </a:xfrm>
          <a:prstGeom prst="bentConnector3">
            <a:avLst>
              <a:gd name="adj1" fmla="val 50000"/>
            </a:avLst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文本框 180">
            <a:extLst>
              <a:ext uri="{FF2B5EF4-FFF2-40B4-BE49-F238E27FC236}">
                <a16:creationId xmlns:a16="http://schemas.microsoft.com/office/drawing/2014/main" id="{9283B99E-4AAE-4EA0-90F3-3F78D87012EA}"/>
              </a:ext>
            </a:extLst>
          </p:cNvPr>
          <p:cNvSpPr txBox="1"/>
          <p:nvPr/>
        </p:nvSpPr>
        <p:spPr>
          <a:xfrm>
            <a:off x="7294260" y="4382163"/>
            <a:ext cx="1060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Recipe 1</a:t>
            </a:r>
            <a:endParaRPr lang="zh-CN" altLang="en-US" dirty="0"/>
          </a:p>
        </p:txBody>
      </p:sp>
      <p:cxnSp>
        <p:nvCxnSpPr>
          <p:cNvPr id="182" name="连接符: 肘形 181">
            <a:extLst>
              <a:ext uri="{FF2B5EF4-FFF2-40B4-BE49-F238E27FC236}">
                <a16:creationId xmlns:a16="http://schemas.microsoft.com/office/drawing/2014/main" id="{332023C6-9809-4774-9EA8-C2DEAC7735AE}"/>
              </a:ext>
            </a:extLst>
          </p:cNvPr>
          <p:cNvCxnSpPr>
            <a:cxnSpLocks/>
            <a:stCxn id="171" idx="3"/>
            <a:endCxn id="181" idx="1"/>
          </p:cNvCxnSpPr>
          <p:nvPr/>
        </p:nvCxnSpPr>
        <p:spPr>
          <a:xfrm flipV="1">
            <a:off x="4226497" y="4566829"/>
            <a:ext cx="3067763" cy="461666"/>
          </a:xfrm>
          <a:prstGeom prst="bentConnector3">
            <a:avLst>
              <a:gd name="adj1" fmla="val 50000"/>
            </a:avLst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文本框 182">
            <a:extLst>
              <a:ext uri="{FF2B5EF4-FFF2-40B4-BE49-F238E27FC236}">
                <a16:creationId xmlns:a16="http://schemas.microsoft.com/office/drawing/2014/main" id="{E39B5AD9-2CDF-4611-8ECB-D2B711407458}"/>
              </a:ext>
            </a:extLst>
          </p:cNvPr>
          <p:cNvSpPr txBox="1"/>
          <p:nvPr/>
        </p:nvSpPr>
        <p:spPr>
          <a:xfrm>
            <a:off x="7286687" y="4840676"/>
            <a:ext cx="1060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Recipe N</a:t>
            </a:r>
            <a:endParaRPr lang="zh-CN" altLang="en-US" dirty="0"/>
          </a:p>
        </p:txBody>
      </p:sp>
      <p:sp>
        <p:nvSpPr>
          <p:cNvPr id="184" name="文本框 183">
            <a:extLst>
              <a:ext uri="{FF2B5EF4-FFF2-40B4-BE49-F238E27FC236}">
                <a16:creationId xmlns:a16="http://schemas.microsoft.com/office/drawing/2014/main" id="{E6DCB438-8374-4AF3-9063-E338ED708F2D}"/>
              </a:ext>
            </a:extLst>
          </p:cNvPr>
          <p:cNvSpPr txBox="1"/>
          <p:nvPr/>
        </p:nvSpPr>
        <p:spPr>
          <a:xfrm>
            <a:off x="7446660" y="4534563"/>
            <a:ext cx="1060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cxnSp>
        <p:nvCxnSpPr>
          <p:cNvPr id="185" name="连接符: 肘形 184">
            <a:extLst>
              <a:ext uri="{FF2B5EF4-FFF2-40B4-BE49-F238E27FC236}">
                <a16:creationId xmlns:a16="http://schemas.microsoft.com/office/drawing/2014/main" id="{744676B9-746B-43CF-AB3E-425D150AB74C}"/>
              </a:ext>
            </a:extLst>
          </p:cNvPr>
          <p:cNvCxnSpPr>
            <a:cxnSpLocks/>
          </p:cNvCxnSpPr>
          <p:nvPr/>
        </p:nvCxnSpPr>
        <p:spPr>
          <a:xfrm flipV="1">
            <a:off x="8272559" y="4076050"/>
            <a:ext cx="850501" cy="490779"/>
          </a:xfrm>
          <a:prstGeom prst="bentConnector3">
            <a:avLst>
              <a:gd name="adj1" fmla="val 50000"/>
            </a:avLst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文本框 186">
            <a:extLst>
              <a:ext uri="{FF2B5EF4-FFF2-40B4-BE49-F238E27FC236}">
                <a16:creationId xmlns:a16="http://schemas.microsoft.com/office/drawing/2014/main" id="{767C2A04-25C6-4604-9585-9D21E17A0181}"/>
              </a:ext>
            </a:extLst>
          </p:cNvPr>
          <p:cNvSpPr txBox="1"/>
          <p:nvPr/>
        </p:nvSpPr>
        <p:spPr>
          <a:xfrm>
            <a:off x="9123060" y="3882098"/>
            <a:ext cx="1060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Ppid</a:t>
            </a:r>
            <a:r>
              <a:rPr lang="en-US" altLang="zh-CN" dirty="0"/>
              <a:t> 1</a:t>
            </a:r>
            <a:endParaRPr lang="zh-CN" altLang="en-US" dirty="0"/>
          </a:p>
        </p:txBody>
      </p:sp>
      <p:sp>
        <p:nvSpPr>
          <p:cNvPr id="188" name="文本框 187">
            <a:extLst>
              <a:ext uri="{FF2B5EF4-FFF2-40B4-BE49-F238E27FC236}">
                <a16:creationId xmlns:a16="http://schemas.microsoft.com/office/drawing/2014/main" id="{8B5407C7-E9B6-4EE1-8CA7-1D32620815CC}"/>
              </a:ext>
            </a:extLst>
          </p:cNvPr>
          <p:cNvSpPr txBox="1"/>
          <p:nvPr/>
        </p:nvSpPr>
        <p:spPr>
          <a:xfrm>
            <a:off x="9123059" y="4320066"/>
            <a:ext cx="2601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Ppid</a:t>
            </a:r>
            <a:r>
              <a:rPr lang="en-US" altLang="zh-CN" dirty="0"/>
              <a:t> M</a:t>
            </a:r>
            <a:r>
              <a:rPr lang="zh-CN" altLang="en-US" dirty="0"/>
              <a:t>：经历</a:t>
            </a:r>
            <a:r>
              <a:rPr lang="en-US" altLang="zh-CN" dirty="0"/>
              <a:t>chamber</a:t>
            </a:r>
            <a:r>
              <a:rPr lang="zh-CN" altLang="en-US" dirty="0"/>
              <a:t>的顺序（混联）</a:t>
            </a:r>
          </a:p>
        </p:txBody>
      </p:sp>
      <p:cxnSp>
        <p:nvCxnSpPr>
          <p:cNvPr id="189" name="连接符: 肘形 188">
            <a:extLst>
              <a:ext uri="{FF2B5EF4-FFF2-40B4-BE49-F238E27FC236}">
                <a16:creationId xmlns:a16="http://schemas.microsoft.com/office/drawing/2014/main" id="{4383F8E9-DAE8-4B5D-93FF-79003C2BBAC0}"/>
              </a:ext>
            </a:extLst>
          </p:cNvPr>
          <p:cNvCxnSpPr>
            <a:cxnSpLocks/>
            <a:endCxn id="188" idx="1"/>
          </p:cNvCxnSpPr>
          <p:nvPr/>
        </p:nvCxnSpPr>
        <p:spPr>
          <a:xfrm>
            <a:off x="8313901" y="4566830"/>
            <a:ext cx="809158" cy="76402"/>
          </a:xfrm>
          <a:prstGeom prst="bentConnector3">
            <a:avLst>
              <a:gd name="adj1" fmla="val 50000"/>
            </a:avLst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文本框 189">
            <a:extLst>
              <a:ext uri="{FF2B5EF4-FFF2-40B4-BE49-F238E27FC236}">
                <a16:creationId xmlns:a16="http://schemas.microsoft.com/office/drawing/2014/main" id="{1C941038-61C0-4CD2-9703-6712C8036E1A}"/>
              </a:ext>
            </a:extLst>
          </p:cNvPr>
          <p:cNvSpPr txBox="1"/>
          <p:nvPr/>
        </p:nvSpPr>
        <p:spPr>
          <a:xfrm>
            <a:off x="9678931" y="4387769"/>
            <a:ext cx="1060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cxnSp>
        <p:nvCxnSpPr>
          <p:cNvPr id="191" name="连接符: 肘形 190">
            <a:extLst>
              <a:ext uri="{FF2B5EF4-FFF2-40B4-BE49-F238E27FC236}">
                <a16:creationId xmlns:a16="http://schemas.microsoft.com/office/drawing/2014/main" id="{66C6038D-FDC5-470D-AEE4-95C5289B5360}"/>
              </a:ext>
            </a:extLst>
          </p:cNvPr>
          <p:cNvCxnSpPr>
            <a:cxnSpLocks/>
            <a:stCxn id="188" idx="2"/>
            <a:endCxn id="174" idx="3"/>
          </p:cNvCxnSpPr>
          <p:nvPr/>
        </p:nvCxnSpPr>
        <p:spPr>
          <a:xfrm rot="5400000">
            <a:off x="7915017" y="2889272"/>
            <a:ext cx="431430" cy="4585680"/>
          </a:xfrm>
          <a:prstGeom prst="bentConnector2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连接符: 肘形 191">
            <a:extLst>
              <a:ext uri="{FF2B5EF4-FFF2-40B4-BE49-F238E27FC236}">
                <a16:creationId xmlns:a16="http://schemas.microsoft.com/office/drawing/2014/main" id="{18989112-0814-46A1-8147-02ECEE1854FB}"/>
              </a:ext>
            </a:extLst>
          </p:cNvPr>
          <p:cNvCxnSpPr>
            <a:cxnSpLocks/>
            <a:stCxn id="167" idx="2"/>
            <a:endCxn id="195" idx="1"/>
          </p:cNvCxnSpPr>
          <p:nvPr/>
        </p:nvCxnSpPr>
        <p:spPr>
          <a:xfrm rot="16200000" flipH="1">
            <a:off x="7933025" y="2759226"/>
            <a:ext cx="275026" cy="506717"/>
          </a:xfrm>
          <a:prstGeom prst="bentConnector2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连接符: 肘形 192">
            <a:extLst>
              <a:ext uri="{FF2B5EF4-FFF2-40B4-BE49-F238E27FC236}">
                <a16:creationId xmlns:a16="http://schemas.microsoft.com/office/drawing/2014/main" id="{FC8D471E-AFAB-4590-A446-F98F43DF926B}"/>
              </a:ext>
            </a:extLst>
          </p:cNvPr>
          <p:cNvCxnSpPr>
            <a:cxnSpLocks/>
            <a:stCxn id="181" idx="0"/>
            <a:endCxn id="195" idx="1"/>
          </p:cNvCxnSpPr>
          <p:nvPr/>
        </p:nvCxnSpPr>
        <p:spPr>
          <a:xfrm rot="5400000" flipH="1" flipV="1">
            <a:off x="7458292" y="3516559"/>
            <a:ext cx="1232065" cy="499145"/>
          </a:xfrm>
          <a:prstGeom prst="bentConnector2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文本框 194">
                <a:extLst>
                  <a:ext uri="{FF2B5EF4-FFF2-40B4-BE49-F238E27FC236}">
                    <a16:creationId xmlns:a16="http://schemas.microsoft.com/office/drawing/2014/main" id="{5C33B277-2977-42EE-9792-B69EDFDD80E8}"/>
                  </a:ext>
                </a:extLst>
              </p:cNvPr>
              <p:cNvSpPr txBox="1"/>
              <p:nvPr/>
            </p:nvSpPr>
            <p:spPr>
              <a:xfrm>
                <a:off x="8323897" y="2965432"/>
                <a:ext cx="35214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i="1" dirty="0"/>
                  <a:t>O</a:t>
                </a:r>
                <a:r>
                  <a:rPr lang="zh-CN" altLang="en-US" dirty="0"/>
                  <a:t>与可加工</a:t>
                </a:r>
                <a:r>
                  <a:rPr lang="en-US" altLang="zh-CN" i="1" dirty="0"/>
                  <a:t>M</a:t>
                </a:r>
                <a:r>
                  <a:rPr lang="zh-CN" altLang="en-US" dirty="0"/>
                  <a:t>的对应关系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5" name="文本框 194">
                <a:extLst>
                  <a:ext uri="{FF2B5EF4-FFF2-40B4-BE49-F238E27FC236}">
                    <a16:creationId xmlns:a16="http://schemas.microsoft.com/office/drawing/2014/main" id="{5C33B277-2977-42EE-9792-B69EDFDD80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3897" y="2965432"/>
                <a:ext cx="3521421" cy="369332"/>
              </a:xfrm>
              <a:prstGeom prst="rect">
                <a:avLst/>
              </a:prstGeom>
              <a:blipFill>
                <a:blip r:embed="rId10"/>
                <a:stretch>
                  <a:fillRect l="-1384" t="-8197" b="-26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245745" y="168910"/>
            <a:ext cx="1096391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FAB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厂机台组调度问题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FA077B2-3B6C-4E17-952D-D2A5AD9D735E}"/>
              </a:ext>
            </a:extLst>
          </p:cNvPr>
          <p:cNvSpPr txBox="1"/>
          <p:nvPr/>
        </p:nvSpPr>
        <p:spPr>
          <a:xfrm>
            <a:off x="425788" y="823658"/>
            <a:ext cx="7287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/>
              <a:t>FAB</a:t>
            </a:r>
            <a:r>
              <a:rPr lang="zh-CN" altLang="en-US" dirty="0"/>
              <a:t>厂机台组调度问题是一类特殊的并行机调度问题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FCAACEB9-1070-423D-90EF-9639DB3580D6}"/>
                  </a:ext>
                </a:extLst>
              </p:cNvPr>
              <p:cNvSpPr txBox="1"/>
              <p:nvPr/>
            </p:nvSpPr>
            <p:spPr>
              <a:xfrm>
                <a:off x="921381" y="1192990"/>
                <a:ext cx="5514321" cy="8822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d>
                  </m:oMath>
                </a14:m>
                <a:r>
                  <a:rPr lang="zh-CN" altLang="en-US" dirty="0"/>
                  <a:t>为该机台组可加工的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zh-CN" altLang="en-US" dirty="0"/>
                  <a:t>的集合</a:t>
                </a:r>
                <a:endParaRPr lang="en-US" altLang="zh-CN" dirty="0"/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r>
                  <a:rPr lang="zh-CN" altLang="en-US" dirty="0"/>
                  <a:t>为该机台组内所有机台的集合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FCAACEB9-1070-423D-90EF-9639DB358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381" y="1192990"/>
                <a:ext cx="5514321" cy="882229"/>
              </a:xfrm>
              <a:prstGeom prst="rect">
                <a:avLst/>
              </a:prstGeom>
              <a:blipFill>
                <a:blip r:embed="rId2"/>
                <a:stretch>
                  <a:fillRect l="-663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6D79A6ED-4A68-48FF-9452-148A4F381CBE}"/>
                  </a:ext>
                </a:extLst>
              </p:cNvPr>
              <p:cNvSpPr txBox="1"/>
              <p:nvPr/>
            </p:nvSpPr>
            <p:spPr>
              <a:xfrm>
                <a:off x="401261" y="2202251"/>
                <a:ext cx="3633710" cy="2544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dirty="0"/>
                  <a:t>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}</a:t>
                </a:r>
                <a:r>
                  <a:rPr lang="zh-CN" altLang="en-US" dirty="0"/>
                  <a:t>的关键信息</a:t>
                </a:r>
                <a:endParaRPr lang="en-US" altLang="zh-CN" dirty="0"/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zh-CN" dirty="0"/>
                  <a:t>Wafer</a:t>
                </a:r>
                <a:r>
                  <a:rPr lang="zh-CN" altLang="en-US" dirty="0"/>
                  <a:t>数量</a:t>
                </a:r>
                <a:endParaRPr lang="en-US" altLang="zh-CN" dirty="0"/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zh-CN" dirty="0"/>
                  <a:t>Recipe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dirty="0"/>
                  <a:t>局部</a:t>
                </a:r>
                <a:r>
                  <a:rPr lang="en-US" altLang="zh-CN" dirty="0" err="1"/>
                  <a:t>duedate</a:t>
                </a:r>
                <a:endParaRPr lang="en-US" altLang="zh-CN" dirty="0"/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highlight>
                      <a:srgbClr val="FFFF00"/>
                    </a:highlight>
                  </a:rPr>
                  <a:t>预计的到达时间</a:t>
                </a:r>
                <a:endParaRPr lang="en-US" altLang="zh-CN" dirty="0">
                  <a:highlight>
                    <a:srgbClr val="FFFF00"/>
                  </a:highlight>
                </a:endParaRP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dirty="0"/>
                  <a:t>加工优先级相关属性</a:t>
                </a:r>
                <a:endParaRPr lang="en-US" altLang="zh-CN" dirty="0"/>
              </a:p>
            </p:txBody>
          </p:sp>
        </mc:Choice>
        <mc:Fallback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6D79A6ED-4A68-48FF-9452-148A4F381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261" y="2202251"/>
                <a:ext cx="3633710" cy="2544992"/>
              </a:xfrm>
              <a:prstGeom prst="rect">
                <a:avLst/>
              </a:prstGeom>
              <a:blipFill>
                <a:blip r:embed="rId3"/>
                <a:stretch>
                  <a:fillRect l="-1174"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31BFE8-B0D5-441C-891B-22811A47446C}"/>
                  </a:ext>
                </a:extLst>
              </p:cNvPr>
              <p:cNvSpPr txBox="1"/>
              <p:nvPr/>
            </p:nvSpPr>
            <p:spPr>
              <a:xfrm>
                <a:off x="6096000" y="1781337"/>
                <a:ext cx="6476392" cy="42051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dirty="0"/>
                  <a:t>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}</a:t>
                </a:r>
                <a:r>
                  <a:rPr lang="zh-CN" altLang="en-US" dirty="0"/>
                  <a:t>的关键信息</a:t>
                </a:r>
                <a:endParaRPr lang="en-US" altLang="zh-CN" dirty="0"/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dirty="0"/>
                  <a:t>结构信息</a:t>
                </a:r>
                <a:endParaRPr lang="en-US" altLang="zh-CN" dirty="0"/>
              </a:p>
              <a:p>
                <a:pPr marL="1200150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/>
                  <a:t>Chamber</a:t>
                </a:r>
                <a:r>
                  <a:rPr lang="zh-CN" altLang="en-US" dirty="0"/>
                  <a:t>数量及模式</a:t>
                </a:r>
                <a:endParaRPr lang="en-US" altLang="zh-CN" dirty="0"/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dirty="0"/>
                  <a:t>可加工</a:t>
                </a:r>
                <a:r>
                  <a:rPr lang="en-US" altLang="zh-CN" dirty="0"/>
                  <a:t>Recipe</a:t>
                </a:r>
                <a:r>
                  <a:rPr lang="zh-CN" altLang="en-US" dirty="0"/>
                  <a:t>集合</a:t>
                </a:r>
                <a:endParaRPr lang="en-US" altLang="zh-CN" dirty="0"/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dirty="0"/>
                  <a:t>加工每个</a:t>
                </a:r>
                <a:r>
                  <a:rPr lang="en-US" altLang="zh-CN" dirty="0"/>
                  <a:t>Recipe</a:t>
                </a:r>
                <a:r>
                  <a:rPr lang="zh-CN" altLang="en-US" dirty="0"/>
                  <a:t>时可用的</a:t>
                </a:r>
                <a:r>
                  <a:rPr lang="en-US" altLang="zh-CN" dirty="0" err="1"/>
                  <a:t>ppid</a:t>
                </a:r>
                <a:endParaRPr lang="en-US" altLang="zh-CN" dirty="0"/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zh-CN" dirty="0" err="1"/>
                  <a:t>Ppid</a:t>
                </a:r>
                <a:r>
                  <a:rPr lang="zh-CN" altLang="en-US" dirty="0"/>
                  <a:t>信息包括：</a:t>
                </a:r>
                <a:endParaRPr lang="en-US" altLang="zh-CN" dirty="0"/>
              </a:p>
              <a:p>
                <a:pPr marL="1200150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加工步骤数量</a:t>
                </a:r>
                <a:endParaRPr lang="en-US" altLang="zh-CN" dirty="0"/>
              </a:p>
              <a:p>
                <a:pPr marL="1200150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每个步骤内加工每片</a:t>
                </a:r>
                <a:r>
                  <a:rPr lang="en-US" altLang="zh-CN" dirty="0"/>
                  <a:t>wafer</a:t>
                </a:r>
                <a:r>
                  <a:rPr lang="zh-CN" altLang="en-US" dirty="0"/>
                  <a:t>的</a:t>
                </a:r>
                <a:r>
                  <a:rPr lang="en-US" altLang="zh-CN" dirty="0"/>
                  <a:t>process time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dirty="0"/>
                  <a:t>其它生产约束所需信息</a:t>
                </a:r>
                <a:endParaRPr lang="en-US" altLang="zh-CN" dirty="0"/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zh-CN" dirty="0"/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31BFE8-B0D5-441C-891B-22811A474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781337"/>
                <a:ext cx="6476392" cy="4205126"/>
              </a:xfrm>
              <a:prstGeom prst="rect">
                <a:avLst/>
              </a:prstGeom>
              <a:blipFill>
                <a:blip r:embed="rId4"/>
                <a:stretch>
                  <a:fillRect l="-5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245745" y="168910"/>
            <a:ext cx="1096391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FAB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厂机台组调度问题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6D79A6ED-4A68-48FF-9452-148A4F381CBE}"/>
                  </a:ext>
                </a:extLst>
              </p:cNvPr>
              <p:cNvSpPr txBox="1"/>
              <p:nvPr/>
            </p:nvSpPr>
            <p:spPr>
              <a:xfrm>
                <a:off x="401261" y="753266"/>
                <a:ext cx="10652878" cy="6909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l"/>
                </a:pPr>
                <a:r>
                  <a:rPr lang="zh-CN" altLang="en-US" dirty="0"/>
                  <a:t>决策变量：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dirty="0"/>
                  <a:t>加工机台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、</m:t>
                    </m:r>
                  </m:oMath>
                </a14:m>
                <a:r>
                  <a:rPr lang="zh-CN" altLang="en-US" dirty="0"/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dirty="0"/>
                  <a:t>上加工顺序及上下机时刻、在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dirty="0"/>
                  <a:t>上的加工所用</a:t>
                </a:r>
                <a:r>
                  <a:rPr lang="en-US" altLang="zh-CN" dirty="0" err="1"/>
                  <a:t>ppid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wafer</a:t>
                </a:r>
                <a:r>
                  <a:rPr lang="zh-CN" altLang="en-US" dirty="0"/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内</m:t>
                    </m:r>
                  </m:oMath>
                </a14:m>
                <a:r>
                  <a:rPr lang="zh-CN" altLang="en-US" dirty="0"/>
                  <a:t>各</a:t>
                </a:r>
                <a:r>
                  <a:rPr lang="en-US" altLang="zh-CN" dirty="0"/>
                  <a:t>chamber/side</a:t>
                </a:r>
                <a:r>
                  <a:rPr lang="zh-CN" altLang="en-US" dirty="0"/>
                  <a:t>的加工顺序及上下</a:t>
                </a:r>
                <a:r>
                  <a:rPr lang="en-US" altLang="zh-CN" dirty="0"/>
                  <a:t>chamber/side</a:t>
                </a:r>
                <a:r>
                  <a:rPr lang="zh-CN" altLang="en-US" dirty="0"/>
                  <a:t>的时刻</a:t>
                </a:r>
                <a:endParaRPr lang="en-US" altLang="zh-CN" dirty="0"/>
              </a:p>
            </p:txBody>
          </p:sp>
        </mc:Choice>
        <mc:Fallback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6D79A6ED-4A68-48FF-9452-148A4F381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261" y="753266"/>
                <a:ext cx="10652878" cy="690958"/>
              </a:xfrm>
              <a:prstGeom prst="rect">
                <a:avLst/>
              </a:prstGeom>
              <a:blipFill>
                <a:blip r:embed="rId2"/>
                <a:stretch>
                  <a:fillRect l="-401" t="-4425" b="-106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8C04706-9A4A-4B60-988C-80567C8786AD}"/>
                  </a:ext>
                </a:extLst>
              </p:cNvPr>
              <p:cNvSpPr txBox="1"/>
              <p:nvPr/>
            </p:nvSpPr>
            <p:spPr>
              <a:xfrm>
                <a:off x="401261" y="1660280"/>
                <a:ext cx="10652878" cy="15728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l"/>
                </a:pPr>
                <a:r>
                  <a:rPr lang="zh-CN" altLang="en-US" dirty="0"/>
                  <a:t>优化目标：</a:t>
                </a:r>
                <a:endParaRPr lang="en-US" altLang="zh-CN" dirty="0"/>
              </a:p>
              <a:p>
                <a:pPr marL="800100" lvl="1" indent="-342900" algn="just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zh-CN" dirty="0"/>
                  <a:t>减少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d>
                  </m:oMath>
                </a14:m>
                <a:r>
                  <a:rPr lang="zh-CN" altLang="en-US" dirty="0"/>
                  <a:t>的拖期数和总拖期时间，</a:t>
                </a:r>
                <a:r>
                  <a:rPr lang="en-US" altLang="zh-CN" dirty="0" err="1"/>
                  <a:t>duedate</a:t>
                </a:r>
                <a:r>
                  <a:rPr lang="zh-CN" altLang="en-US" dirty="0"/>
                  <a:t>为根据剩余</a:t>
                </a:r>
                <a:r>
                  <a:rPr lang="en-US" altLang="zh-CN" dirty="0"/>
                  <a:t>Q-time</a:t>
                </a:r>
                <a:r>
                  <a:rPr lang="zh-CN" altLang="en-US" dirty="0"/>
                  <a:t>设定，所以目标尽量降为</a:t>
                </a:r>
                <a:r>
                  <a:rPr lang="en-US" altLang="zh-CN" dirty="0"/>
                  <a:t>0</a:t>
                </a:r>
                <a:endParaRPr lang="zh-CN" altLang="zh-CN" dirty="0"/>
              </a:p>
              <a:p>
                <a:pPr marL="800100" lvl="1" indent="-342900" algn="just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zh-CN" dirty="0"/>
                  <a:t>机台组平均</a:t>
                </a:r>
                <a:r>
                  <a:rPr lang="zh-CN" altLang="en-US" dirty="0"/>
                  <a:t>机器</a:t>
                </a:r>
                <a:r>
                  <a:rPr lang="zh-CN" altLang="zh-CN" dirty="0"/>
                  <a:t>利用率</a:t>
                </a:r>
                <a:endParaRPr lang="en-US" altLang="zh-CN" dirty="0"/>
              </a:p>
              <a:p>
                <a:pPr marL="800100" lvl="1" indent="-342900" algn="just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dirty="0"/>
                  <a:t>尽量按</a:t>
                </a:r>
                <a:r>
                  <a:rPr lang="en-US" altLang="zh-CN" dirty="0"/>
                  <a:t>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} </a:t>
                </a:r>
                <a:r>
                  <a:rPr lang="zh-CN" altLang="en-US" dirty="0"/>
                  <a:t>加工优先级顺序上机加工</a:t>
                </a:r>
                <a:endParaRPr lang="zh-CN" altLang="zh-CN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8C04706-9A4A-4B60-988C-80567C878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261" y="1660280"/>
                <a:ext cx="10652878" cy="1572866"/>
              </a:xfrm>
              <a:prstGeom prst="rect">
                <a:avLst/>
              </a:prstGeom>
              <a:blipFill>
                <a:blip r:embed="rId3"/>
                <a:stretch>
                  <a:fillRect l="-401" t="-1550" b="-58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4232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278</Words>
  <Application>Microsoft Office PowerPoint</Application>
  <PresentationFormat>宽屏</PresentationFormat>
  <Paragraphs>50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等线</vt:lpstr>
      <vt:lpstr>等线 Light</vt:lpstr>
      <vt:lpstr>华文细黑</vt:lpstr>
      <vt:lpstr>微软雅黑</vt:lpstr>
      <vt:lpstr>Arial</vt:lpstr>
      <vt:lpstr>Cambria Math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Mingyu1 Dong</dc:creator>
  <cp:lastModifiedBy>Mingyu1 Dong</cp:lastModifiedBy>
  <cp:revision>3</cp:revision>
  <dcterms:created xsi:type="dcterms:W3CDTF">2025-11-21T01:06:09Z</dcterms:created>
  <dcterms:modified xsi:type="dcterms:W3CDTF">2025-11-21T01:08:21Z</dcterms:modified>
</cp:coreProperties>
</file>